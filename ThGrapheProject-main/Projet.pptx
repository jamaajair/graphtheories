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7" r:id="rId9"/>
    <p:sldId id="262" r:id="rId10"/>
    <p:sldId id="268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12" autoAdjust="0"/>
    <p:restoredTop sz="94660"/>
  </p:normalViewPr>
  <p:slideViewPr>
    <p:cSldViewPr snapToGrid="0">
      <p:cViewPr varScale="1">
        <p:scale>
          <a:sx n="67" d="100"/>
          <a:sy n="67" d="100"/>
        </p:scale>
        <p:origin x="8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12/12/2021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5510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12/12/2021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14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12/12/2021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897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12/12/2021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540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12/12/2021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9432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12/12/2021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834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12/12/2021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2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12/12/2021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187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12/12/2021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83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12/12/2021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11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12/12/2021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788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12/12/2021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806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08D328AE-0F2F-4B28-9DC8-0354E5B7F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080" y="259148"/>
            <a:ext cx="6801899" cy="2360227"/>
          </a:xfrm>
        </p:spPr>
        <p:txBody>
          <a:bodyPr anchor="b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fr-BE" sz="4400" dirty="0"/>
              <a:t>Projet de </a:t>
            </a:r>
            <a:br>
              <a:rPr lang="fr-BE" sz="4400" dirty="0"/>
            </a:br>
            <a:r>
              <a:rPr lang="fr-BE" sz="4400" dirty="0">
                <a:solidFill>
                  <a:srgbClr val="7030A0"/>
                </a:solidFill>
                <a:latin typeface="Algerian" panose="04020705040A02060702" pitchFamily="82" charset="0"/>
              </a:rPr>
              <a:t>MATH0499-1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6C9BD213-D420-4D72-8934-0F34847D2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692" y="3205780"/>
            <a:ext cx="5168829" cy="2704799"/>
          </a:xfrm>
        </p:spPr>
        <p:txBody>
          <a:bodyPr anchor="t">
            <a:normAutofit/>
          </a:bodyPr>
          <a:lstStyle/>
          <a:p>
            <a:r>
              <a:rPr lang="fr-BE" dirty="0">
                <a:latin typeface="Algerian" panose="04020705040A02060702" pitchFamily="82" charset="0"/>
              </a:rPr>
              <a:t>Par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 dirty="0" err="1">
                <a:solidFill>
                  <a:srgbClr val="0070C0"/>
                </a:solidFill>
                <a:latin typeface="Algerian" panose="04020705040A02060702" pitchFamily="82" charset="0"/>
              </a:rPr>
              <a:t>Said</a:t>
            </a:r>
            <a:r>
              <a:rPr lang="fr-BE" dirty="0">
                <a:solidFill>
                  <a:srgbClr val="0070C0"/>
                </a:solidFill>
                <a:latin typeface="Algerian" panose="04020705040A02060702" pitchFamily="82" charset="0"/>
              </a:rPr>
              <a:t> </a:t>
            </a:r>
            <a:r>
              <a:rPr lang="fr-BE" dirty="0" err="1">
                <a:solidFill>
                  <a:srgbClr val="0070C0"/>
                </a:solidFill>
                <a:latin typeface="Algerian" panose="04020705040A02060702" pitchFamily="82" charset="0"/>
              </a:rPr>
              <a:t>Hormat-allah</a:t>
            </a:r>
            <a:endParaRPr lang="fr-BE" dirty="0">
              <a:solidFill>
                <a:srgbClr val="0070C0"/>
              </a:solidFill>
              <a:latin typeface="Algerian" panose="04020705040A02060702" pitchFamily="8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 dirty="0">
                <a:solidFill>
                  <a:srgbClr val="0070C0"/>
                </a:solidFill>
                <a:latin typeface="Algerian" panose="04020705040A02060702" pitchFamily="82" charset="0"/>
                <a:cs typeface="Aldhabi" panose="020B0604020202020204" pitchFamily="2" charset="-78"/>
              </a:rPr>
              <a:t>Jamaa Jair </a:t>
            </a:r>
          </a:p>
          <a:p>
            <a:endParaRPr lang="fr-BE" dirty="0">
              <a:solidFill>
                <a:srgbClr val="0070C0"/>
              </a:solidFill>
              <a:latin typeface="Algerian" panose="04020705040A02060702" pitchFamily="82" charset="0"/>
              <a:cs typeface="Aldhabi" panose="020B0604020202020204" pitchFamily="2" charset="-78"/>
            </a:endParaRP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2" name="Picture 1" descr="Une toile de points reliés">
            <a:extLst>
              <a:ext uri="{FF2B5EF4-FFF2-40B4-BE49-F238E27FC236}">
                <a16:creationId xmlns:a16="http://schemas.microsoft.com/office/drawing/2014/main" id="{193E325A-1592-4A5A-BF2E-5F27CAE06E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151" r="24197" b="1"/>
          <a:stretch/>
        </p:blipFill>
        <p:spPr>
          <a:xfrm>
            <a:off x="7187979" y="10"/>
            <a:ext cx="5004021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29887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B6DCB3-F1E8-4551-A7D6-368CE5BAA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>
                <a:solidFill>
                  <a:srgbClr val="FF0000"/>
                </a:solidFill>
                <a:latin typeface="Copperplate Gothic Bold" panose="020E0705020206020404" pitchFamily="34" charset="0"/>
              </a:rPr>
              <a:t>Sujet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7A1550-FBF8-4EE9-8F3E-4452F09FD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2312276"/>
            <a:ext cx="10067925" cy="3651504"/>
          </a:xfrm>
        </p:spPr>
        <p:txBody>
          <a:bodyPr/>
          <a:lstStyle/>
          <a:p>
            <a:pPr>
              <a:lnSpc>
                <a:spcPct val="300000"/>
              </a:lnSpc>
            </a:pPr>
            <a:endParaRPr lang="fr-BE" b="1" dirty="0"/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fr-FR" b="1" dirty="0"/>
              <a:t>Estimation de la probabilité de revenir au même point avec une certaine longueur de chemin (exactement N et au plus N).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endParaRPr lang="fr-FR" b="1" dirty="0"/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fr-FR" b="1" dirty="0"/>
              <a:t>à partir d'un sommet donné, traverser le graphe aléatoirement et faire des statistiques sur les données tirées du parcours aléatoire.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endParaRPr lang="fr-BE" b="1" dirty="0"/>
          </a:p>
        </p:txBody>
      </p:sp>
    </p:spTree>
    <p:extLst>
      <p:ext uri="{BB962C8B-B14F-4D97-AF65-F5344CB8AC3E}">
        <p14:creationId xmlns:p14="http://schemas.microsoft.com/office/powerpoint/2010/main" val="395971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DD9995-A39A-49DA-86C0-3E7703A9A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>
                <a:solidFill>
                  <a:srgbClr val="FF0000"/>
                </a:solidFill>
                <a:latin typeface="Copperplate Gothic Bold" panose="020E0705020206020404" pitchFamily="34" charset="0"/>
              </a:rPr>
              <a:t>Graphe</a:t>
            </a:r>
            <a:r>
              <a:rPr lang="fr-BE" dirty="0">
                <a:latin typeface="Copperplate Gothic Bold" panose="020E0705020206020404" pitchFamily="34" charset="0"/>
              </a:rPr>
              <a:t> 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69223B-6E41-44E7-8C52-68CB66BB7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fr-BE" sz="3200" b="1" dirty="0">
                <a:latin typeface="Garamond" panose="02020404030301010803" pitchFamily="18" charset="0"/>
                <a:ea typeface="+mj-ea"/>
                <a:cs typeface="+mj-cs"/>
              </a:rPr>
              <a:t>Un graphe de 100 sommets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BE" sz="3200" b="1" dirty="0">
                <a:latin typeface="Garamond" panose="02020404030301010803" pitchFamily="18" charset="0"/>
                <a:ea typeface="+mj-ea"/>
                <a:cs typeface="+mj-cs"/>
              </a:rPr>
              <a:t>Simple orienté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BE" sz="3200" b="1" dirty="0">
                <a:latin typeface="Garamond" panose="02020404030301010803" pitchFamily="18" charset="0"/>
                <a:ea typeface="+mj-ea"/>
                <a:cs typeface="+mj-cs"/>
              </a:rPr>
              <a:t>Fortement connexe</a:t>
            </a:r>
          </a:p>
        </p:txBody>
      </p:sp>
    </p:spTree>
    <p:extLst>
      <p:ext uri="{BB962C8B-B14F-4D97-AF65-F5344CB8AC3E}">
        <p14:creationId xmlns:p14="http://schemas.microsoft.com/office/powerpoint/2010/main" val="428790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FF823-161E-4930-AC68-8DF8EE646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>
                <a:solidFill>
                  <a:srgbClr val="FF0000"/>
                </a:solidFill>
                <a:latin typeface="Copperplate Gothic Bold" panose="020E0705020206020404" pitchFamily="34" charset="0"/>
              </a:rPr>
              <a:t>Estimation du nombre de chemins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CF2DF1-01DE-447D-A781-8EE3ABAE9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BE" sz="3200" b="1" dirty="0">
                <a:latin typeface="Garamond" panose="02020404030301010803" pitchFamily="18" charset="0"/>
              </a:rPr>
              <a:t>Exactement est 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BE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BE" sz="3200" b="1" dirty="0">
                <a:latin typeface="Garamond" panose="02020404030301010803" pitchFamily="18" charset="0"/>
              </a:rPr>
              <a:t>Au plus n.</a:t>
            </a:r>
          </a:p>
        </p:txBody>
      </p:sp>
    </p:spTree>
    <p:extLst>
      <p:ext uri="{BB962C8B-B14F-4D97-AF65-F5344CB8AC3E}">
        <p14:creationId xmlns:p14="http://schemas.microsoft.com/office/powerpoint/2010/main" val="113080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00B1FE-B671-4E81-B377-982B78A2C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>
                <a:solidFill>
                  <a:srgbClr val="FF0000"/>
                </a:solidFill>
                <a:latin typeface="Copperplate Gothic Bold" panose="020E0705020206020404" pitchFamily="34" charset="0"/>
              </a:rPr>
              <a:t>Statistiques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F00306-5387-4E24-8834-2BE2A1E11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3200" b="1" dirty="0">
                <a:latin typeface="Garamond" panose="02020404030301010803" pitchFamily="18" charset="0"/>
              </a:rPr>
              <a:t>Effectif de chaque chemin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3200" b="1" dirty="0">
                <a:latin typeface="Garamond" panose="02020404030301010803" pitchFamily="18" charset="0"/>
              </a:rPr>
              <a:t>Distribution des fréquences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3200" b="1" dirty="0">
                <a:latin typeface="Garamond" panose="02020404030301010803" pitchFamily="18" charset="0"/>
              </a:rPr>
              <a:t>Moyenne du longueur du chemin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3200" b="1" dirty="0">
                <a:latin typeface="Garamond" panose="02020404030301010803" pitchFamily="18" charset="0"/>
              </a:rPr>
              <a:t>Variance du longueur du chemin</a:t>
            </a:r>
          </a:p>
        </p:txBody>
      </p:sp>
    </p:spTree>
    <p:extLst>
      <p:ext uri="{BB962C8B-B14F-4D97-AF65-F5344CB8AC3E}">
        <p14:creationId xmlns:p14="http://schemas.microsoft.com/office/powerpoint/2010/main" val="143852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A7F086-C3A5-4062-8EFA-6594C5DBF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0" y="409575"/>
            <a:ext cx="8770571" cy="137791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>
                <a:solidFill>
                  <a:srgbClr val="FF0000"/>
                </a:solidFill>
                <a:latin typeface="Copperplate Gothic Bold" panose="020E0705020206020404" pitchFamily="34" charset="0"/>
              </a:rPr>
              <a:t>Choix</a:t>
            </a:r>
            <a:br>
              <a:rPr lang="fr-FR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0AA2EA-F76F-4F0A-9FD5-E51A7F529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b="1" dirty="0">
                <a:latin typeface="Garamond" panose="02020404030301010803" pitchFamily="18" charset="0"/>
              </a:rPr>
              <a:t>Langage d’implémentation est :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b="1" dirty="0">
                <a:latin typeface="Garamond" panose="02020404030301010803" pitchFamily="18" charset="0"/>
              </a:rPr>
              <a:t>L’utilisation du format JSON.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02432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E6FB61-944C-4F26-9A45-E51433E73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FF0000"/>
                </a:solidFill>
                <a:latin typeface="Copperplate Gothic Bold" panose="020E0705020206020404" pitchFamily="34" charset="0"/>
              </a:rPr>
              <a:t>architecture</a:t>
            </a:r>
            <a:endParaRPr lang="fr-BE" dirty="0">
              <a:solidFill>
                <a:srgbClr val="FF0000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FC4672-5E91-4F74-84AF-9E940CC96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 err="1"/>
              <a:t>Main.py</a:t>
            </a:r>
            <a:endParaRPr lang="fr-BE" dirty="0"/>
          </a:p>
          <a:p>
            <a:pPr marL="285750" indent="-285750">
              <a:buFont typeface="Wingdings" pitchFamily="2" charset="2"/>
              <a:buChar char="Ø"/>
            </a:pPr>
            <a:r>
              <a:rPr lang="fr-BE" dirty="0"/>
              <a:t>Point d’entrée du programme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 err="1"/>
              <a:t>File.py</a:t>
            </a:r>
            <a:endParaRPr lang="fr-BE" dirty="0"/>
          </a:p>
          <a:p>
            <a:pPr marL="285750" indent="-285750">
              <a:buFont typeface="Wingdings" pitchFamily="2" charset="2"/>
              <a:buChar char="Ø"/>
            </a:pPr>
            <a:r>
              <a:rPr lang="fr-BE" dirty="0"/>
              <a:t>Lecture du fichier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fr-BE" dirty="0"/>
              <a:t>Estimation des probabilités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fr-BE" dirty="0"/>
              <a:t>Statistiques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94639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E6FB61-944C-4F26-9A45-E51433E73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FF0000"/>
                </a:solidFill>
                <a:latin typeface="Copperplate Gothic Bold" panose="020E0705020206020404" pitchFamily="34" charset="0"/>
              </a:rPr>
              <a:t>Architecture - bis</a:t>
            </a:r>
            <a:endParaRPr lang="fr-BE" dirty="0">
              <a:solidFill>
                <a:srgbClr val="FF0000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FC4672-5E91-4F74-84AF-9E940CC96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 err="1"/>
              <a:t>Utils.py</a:t>
            </a:r>
            <a:endParaRPr lang="fr-BE" dirty="0"/>
          </a:p>
          <a:p>
            <a:pPr marL="285750" indent="-285750">
              <a:buFont typeface="Wingdings" pitchFamily="2" charset="2"/>
              <a:buChar char="Ø"/>
            </a:pPr>
            <a:r>
              <a:rPr lang="fr-BE" dirty="0"/>
              <a:t>Petite bibliothèque qui assure le bon fonctionnement du programme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 err="1"/>
              <a:t>Generator.py</a:t>
            </a:r>
            <a:endParaRPr lang="fr-BE" dirty="0"/>
          </a:p>
          <a:p>
            <a:pPr marL="285750" indent="-285750">
              <a:buFont typeface="Wingdings" pitchFamily="2" charset="2"/>
              <a:buChar char="Ø"/>
            </a:pPr>
            <a:r>
              <a:rPr lang="fr-BE" dirty="0"/>
              <a:t>Génération d’un graphe fortement connexe</a:t>
            </a:r>
          </a:p>
        </p:txBody>
      </p:sp>
    </p:spTree>
    <p:extLst>
      <p:ext uri="{BB962C8B-B14F-4D97-AF65-F5344CB8AC3E}">
        <p14:creationId xmlns:p14="http://schemas.microsoft.com/office/powerpoint/2010/main" val="336913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AC8966-74A0-4FE6-B169-E45DD13D8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FF0000"/>
                </a:solidFill>
                <a:latin typeface="Copperplate Gothic Bold" panose="020E0705020206020404" pitchFamily="34" charset="0"/>
              </a:rPr>
              <a:t>Difficultés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884245-B047-4941-8490-D17E35885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/>
              <a:t>Implémentation d’un algorithme pour le parcours aléatoire du graphe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/>
              <a:t>La distribution des probabilités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/>
              <a:t>Génération d’un graphe fortement connexe </a:t>
            </a:r>
          </a:p>
        </p:txBody>
      </p:sp>
    </p:spTree>
    <p:extLst>
      <p:ext uri="{BB962C8B-B14F-4D97-AF65-F5344CB8AC3E}">
        <p14:creationId xmlns:p14="http://schemas.microsoft.com/office/powerpoint/2010/main" val="219426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AC8966-74A0-4FE6-B169-E45DD13D8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FF0000"/>
                </a:solidFill>
                <a:latin typeface="Copperplate Gothic Bold" panose="020E0705020206020404" pitchFamily="34" charset="0"/>
              </a:rPr>
              <a:t>Problèmes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884245-B047-4941-8490-D17E35885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/>
              <a:t>Problème d’</a:t>
            </a:r>
            <a:r>
              <a:rPr lang="fr-BE" dirty="0" err="1"/>
              <a:t>overflow</a:t>
            </a:r>
            <a:r>
              <a:rPr lang="fr-BE" dirty="0"/>
              <a:t> pour un grand nombre de chemins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/>
              <a:t>Complexité assez élevée pour des graphes assez grands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85950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CB2F4-F805-4843-85C1-7E0CD3CA1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>
                <a:solidFill>
                  <a:srgbClr val="FF0000"/>
                </a:solidFill>
                <a:latin typeface="Copperplate Gothic Bold" panose="020E0705020206020404" pitchFamily="34" charset="0"/>
              </a:rPr>
              <a:t>Données de Retour du programme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9B1CD6D-E257-4627-B8AB-1E01486A2B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8955" y="2312988"/>
            <a:ext cx="6913190" cy="3651250"/>
          </a:xfrm>
        </p:spPr>
      </p:pic>
    </p:spTree>
    <p:extLst>
      <p:ext uri="{BB962C8B-B14F-4D97-AF65-F5344CB8AC3E}">
        <p14:creationId xmlns:p14="http://schemas.microsoft.com/office/powerpoint/2010/main" val="3870375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05AF1D-4378-4ACE-860B-3AB75E5FB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150" y="1162050"/>
            <a:ext cx="9972675" cy="4830305"/>
          </a:xfrm>
        </p:spPr>
        <p:txBody>
          <a:bodyPr>
            <a:normAutofit/>
          </a:bodyPr>
          <a:lstStyle/>
          <a:p>
            <a:pPr algn="ctr"/>
            <a:r>
              <a:rPr lang="fr-BE" sz="4000" dirty="0">
                <a:solidFill>
                  <a:srgbClr val="FF0000"/>
                </a:solidFill>
                <a:latin typeface="Copperplate Gothic Bold" panose="020E0705020206020404" pitchFamily="34" charset="0"/>
              </a:rPr>
              <a:t>Utilisation du programme </a:t>
            </a:r>
          </a:p>
        </p:txBody>
      </p:sp>
    </p:spTree>
    <p:extLst>
      <p:ext uri="{BB962C8B-B14F-4D97-AF65-F5344CB8AC3E}">
        <p14:creationId xmlns:p14="http://schemas.microsoft.com/office/powerpoint/2010/main" val="2311713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CF68DF-C290-4EE3-91A1-E70B9CB09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9765" y="2188451"/>
            <a:ext cx="8770571" cy="3651504"/>
          </a:xfrm>
        </p:spPr>
        <p:txBody>
          <a:bodyPr>
            <a:normAutofit/>
          </a:bodyPr>
          <a:lstStyle/>
          <a:p>
            <a:pPr algn="ctr"/>
            <a:r>
              <a:rPr lang="fr-BE" sz="3200" dirty="0">
                <a:solidFill>
                  <a:srgbClr val="FF0000"/>
                </a:solidFill>
                <a:latin typeface="Copperplate Gothic Bold" panose="020E0705020206020404" pitchFamily="34" charset="0"/>
              </a:rPr>
              <a:t>Merci pour votre attention </a:t>
            </a:r>
          </a:p>
          <a:p>
            <a:pPr algn="ctr"/>
            <a:endParaRPr lang="fr-BE" sz="3200" dirty="0">
              <a:solidFill>
                <a:srgbClr val="FF0000"/>
              </a:solidFill>
              <a:latin typeface="Copperplate Gothic Bold" panose="020E07050202060204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491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</TotalTime>
  <Words>198</Words>
  <Application>Microsoft Office PowerPoint</Application>
  <PresentationFormat>Grand écran</PresentationFormat>
  <Paragraphs>48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1" baseType="lpstr">
      <vt:lpstr>Meiryo</vt:lpstr>
      <vt:lpstr>Algerian</vt:lpstr>
      <vt:lpstr>Arial</vt:lpstr>
      <vt:lpstr>Copperplate Gothic Bold</vt:lpstr>
      <vt:lpstr>Corbel</vt:lpstr>
      <vt:lpstr>Garamond</vt:lpstr>
      <vt:lpstr>Wingdings</vt:lpstr>
      <vt:lpstr>SketchLinesVTI</vt:lpstr>
      <vt:lpstr>Projet de  MATH0499-1</vt:lpstr>
      <vt:lpstr>Sujet </vt:lpstr>
      <vt:lpstr>Graphe  </vt:lpstr>
      <vt:lpstr>Estimation du nombre de chemins</vt:lpstr>
      <vt:lpstr>Statistiques</vt:lpstr>
      <vt:lpstr>Choix </vt:lpstr>
      <vt:lpstr>architecture</vt:lpstr>
      <vt:lpstr>Architecture - bis</vt:lpstr>
      <vt:lpstr>Difficultés</vt:lpstr>
      <vt:lpstr>Problèmes</vt:lpstr>
      <vt:lpstr>Données de Retour du programme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de  MATH0499-1</dc:title>
  <dc:creator>jamaa jair</dc:creator>
  <cp:lastModifiedBy>jamaa jair</cp:lastModifiedBy>
  <cp:revision>13</cp:revision>
  <dcterms:created xsi:type="dcterms:W3CDTF">2021-12-11T21:51:47Z</dcterms:created>
  <dcterms:modified xsi:type="dcterms:W3CDTF">2021-12-12T20:12:53Z</dcterms:modified>
</cp:coreProperties>
</file>